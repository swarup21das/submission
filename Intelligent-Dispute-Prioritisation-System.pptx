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Raleway"/>
      <p:regular r:id="rId17"/>
    </p:embeddedFont>
    <p:embeddedFont>
      <p:font typeface="Raleway"/>
      <p:regular r:id="rId18"/>
    </p:embeddedFont>
    <p:embeddedFont>
      <p:font typeface="Raleway"/>
      <p:regular r:id="rId19"/>
    </p:embeddedFont>
    <p:embeddedFont>
      <p:font typeface="Raleway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Intelligent Dispute Prioritisation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comprehensive technical framework for automating dispute resolution workflows at HDFC Bank, leveraging AI-driven prioritisation and rule-based logic to optimise operational efficiency.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627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Overview</a:t>
            </a:r>
            <a:endParaRPr lang="en-US" sz="2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1957268"/>
            <a:ext cx="1134070" cy="16698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1840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 Layer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2674501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 ~300 dispute cases with transaction metadata, customer details, and historical context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627120"/>
            <a:ext cx="1134070" cy="16698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38539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Processing Engine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4344353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Hybrid AI + rule-based scoring system analyses each case across multiple parameters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5296972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55237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Output Layer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6014204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prioritisation, queue routing, SLA assignment, and customer communication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299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2361" y="3452574"/>
            <a:ext cx="5660112" cy="707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 Data Structure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2361" y="4499610"/>
            <a:ext cx="13045678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HDFC Bank provides standardised dispute data across seven critical dimensions that drive the prioritisation logic.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2361" y="5342930"/>
            <a:ext cx="2837498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Transaction Attributes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2361" y="5923002"/>
            <a:ext cx="6246733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Amount Band: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&lt;₹1k / ₹1k–₹10k / &gt;₹10k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2361" y="6364486"/>
            <a:ext cx="6246733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Channel: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UPI / Debit Card / Credit Card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2361" y="6805970"/>
            <a:ext cx="6246733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Fraud / Failed Transaction / Reversal Pending / Merchant Dispute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8926" y="5342930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Operational Metrics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98926" y="5923002"/>
            <a:ext cx="6246733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Days Open: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Duration since case creation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98926" y="6364486"/>
            <a:ext cx="6246733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Priority: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Existing bank classification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598926" y="6805970"/>
            <a:ext cx="6246733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Outcome Status: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Resolved / Pending / SLA Breach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787" y="609719"/>
            <a:ext cx="5527357" cy="690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Outputs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773787" y="1742599"/>
            <a:ext cx="6430923" cy="2526863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2387" y="1971199"/>
            <a:ext cx="663178" cy="663178"/>
          </a:xfrm>
          <a:prstGeom prst="roundRect">
            <a:avLst>
              <a:gd name="adj" fmla="val 13786775"/>
            </a:avLst>
          </a:prstGeom>
          <a:solidFill>
            <a:srgbClr val="1B1B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4791" y="2153483"/>
            <a:ext cx="298371" cy="2983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2387" y="2855357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Priority Score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002387" y="3333393"/>
            <a:ext cx="5973723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0-100 numeric score combining AI predictions and rule-based logic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25690" y="1742599"/>
            <a:ext cx="6430923" cy="2526863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54290" y="1971199"/>
            <a:ext cx="663178" cy="663178"/>
          </a:xfrm>
          <a:prstGeom prst="roundRect">
            <a:avLst>
              <a:gd name="adj" fmla="val 13786775"/>
            </a:avLst>
          </a:prstGeom>
          <a:solidFill>
            <a:srgbClr val="1B1B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6694" y="2153483"/>
            <a:ext cx="298371" cy="29837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4290" y="2855357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Priority Bucket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7654290" y="3333393"/>
            <a:ext cx="5973723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/ Medium / Low classification for workflow routing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773787" y="4490442"/>
            <a:ext cx="6430923" cy="2526863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02387" y="4719042"/>
            <a:ext cx="663178" cy="663178"/>
          </a:xfrm>
          <a:prstGeom prst="roundRect">
            <a:avLst>
              <a:gd name="adj" fmla="val 13786775"/>
            </a:avLst>
          </a:prstGeom>
          <a:solidFill>
            <a:srgbClr val="1B1B2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4791" y="4901327"/>
            <a:ext cx="298371" cy="29837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2387" y="5603200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SLA Allocation</a:t>
            </a:r>
            <a:endParaRPr lang="en-US" sz="2150" dirty="0"/>
          </a:p>
        </p:txBody>
      </p:sp>
      <p:sp>
        <p:nvSpPr>
          <p:cNvPr id="17" name="Text 12"/>
          <p:cNvSpPr/>
          <p:nvPr/>
        </p:nvSpPr>
        <p:spPr>
          <a:xfrm>
            <a:off x="1002387" y="6081236"/>
            <a:ext cx="5973723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Time-bound targets: High (2hrs), Medium (6hrs), Low (24hrs)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425690" y="4490442"/>
            <a:ext cx="6430923" cy="2526863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54290" y="4719042"/>
            <a:ext cx="663178" cy="663178"/>
          </a:xfrm>
          <a:prstGeom prst="roundRect">
            <a:avLst>
              <a:gd name="adj" fmla="val 13786775"/>
            </a:avLst>
          </a:prstGeom>
          <a:solidFill>
            <a:srgbClr val="1B1B2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36694" y="4901327"/>
            <a:ext cx="298371" cy="29837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4290" y="5603200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Queue Assignment</a:t>
            </a:r>
            <a:endParaRPr lang="en-US" sz="2150" dirty="0"/>
          </a:p>
        </p:txBody>
      </p:sp>
      <p:sp>
        <p:nvSpPr>
          <p:cNvPr id="22" name="Text 16"/>
          <p:cNvSpPr/>
          <p:nvPr/>
        </p:nvSpPr>
        <p:spPr>
          <a:xfrm>
            <a:off x="7654290" y="6081236"/>
            <a:ext cx="5973723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Intelligent routing to Senior Ops, Standard, or Auto-Reply queues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73787" y="7266027"/>
            <a:ext cx="13082826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Additionally, the system generates automated first-response templates and real-time dashboard metrics for operational visibility.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6290"/>
            <a:ext cx="65117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Processing Pipeline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5869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313742"/>
            <a:ext cx="6407944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488049"/>
            <a:ext cx="34956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Ingestion &amp; Validation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2978468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 cases via API or CSV, validate data integrity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195869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313742"/>
            <a:ext cx="6408063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24880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Normalisation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2978468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 fields, standardise text formats, convert categorical data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373820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093250"/>
            <a:ext cx="6407944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42675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Rule Engine Scoring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4757976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compliance-driven business rules for initial prioritisation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373820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093250"/>
            <a:ext cx="6408063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42675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ML Prediction Layer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4757976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probability scores using trained classification model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551771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93790" y="5872758"/>
            <a:ext cx="6407944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793790" y="6047065"/>
            <a:ext cx="37363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Score Fusion &amp; Classification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3790" y="653748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 rule scores and ML predictions into final priority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428548" y="551771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428548" y="5872758"/>
            <a:ext cx="6408063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5" name="Text 23"/>
          <p:cNvSpPr/>
          <p:nvPr/>
        </p:nvSpPr>
        <p:spPr>
          <a:xfrm>
            <a:off x="7428548" y="6047065"/>
            <a:ext cx="34823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SLA Assignment &amp; Routing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28548" y="6537484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Allocate time targets and route to appropriate operational queue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4487"/>
            <a:ext cx="68043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Rule-Based Scoring Logic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168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first prioritisation layer applies deterministic business rules to ensure regulatory compliance and capture domain expertise.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434947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2434947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26922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Fraud Detection Rule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3182660"/>
            <a:ext cx="58019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Condition: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Category = "FRAUD"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Add +40 priority points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Rationale: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Immediate escalation for potential financial crime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434947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2434947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2692241"/>
            <a:ext cx="3698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High-Value Transaction Rule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7282" y="3182660"/>
            <a:ext cx="58020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Condition: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Amount Band = "&gt;₹10k"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Add +30 priority points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Rationale: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Larger financial impact requires faster resolution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18378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310" y="5118378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1142524" y="53756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Ageing Case Rule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2524" y="5866090"/>
            <a:ext cx="58019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Condition: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Days Open &gt; 3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Add +20 priority points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Rationale: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Prevent customer dissatisfaction and SLA breaches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18378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8067" y="5118378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7282" y="5375672"/>
            <a:ext cx="32999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Credit Card Channel Rule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7282" y="5866090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Condition: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Channel = "CREDIT_CARD"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Add +10 priority points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Rationale: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Higher regulatory scrutiny for credit products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5803"/>
            <a:ext cx="59527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ML Model Architecture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815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Inputs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562701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Amount band score (normalised numeric value)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004899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Days open (integer)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44709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Category encoded (one-hot vector)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3889296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Channel encoded (one-hot vector)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479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Output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3790" y="5060156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probability scores representing likelihood of High, Medium, and Low priority classification.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0127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Algorithm Selection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6593919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Logistic Regression or Decision Tree classifier trained on historical dispute resolution data for interpretability and speed.</a:t>
            </a:r>
            <a:endParaRPr lang="en-US" sz="17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096" y="2009894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1736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528" y="2653308"/>
            <a:ext cx="6767393" cy="543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Hybrid Scoring &amp; SLA Assignment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7303770" y="3457337"/>
            <a:ext cx="22860" cy="4292441"/>
          </a:xfrm>
          <a:prstGeom prst="roundRect">
            <a:avLst>
              <a:gd name="adj" fmla="val 319483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6620828" y="3641527"/>
            <a:ext cx="521613" cy="22860"/>
          </a:xfrm>
          <a:prstGeom prst="roundRect">
            <a:avLst>
              <a:gd name="adj" fmla="val 319483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7119580" y="3457337"/>
            <a:ext cx="391239" cy="391239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84827" y="3489960"/>
            <a:ext cx="260747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4272201" y="3517106"/>
            <a:ext cx="2173605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Score Fusion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08528" y="3893106"/>
            <a:ext cx="5837277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Score = (0.6 × Rule Score) + (0.4 × ML High Probability × 100)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487960" y="4684633"/>
            <a:ext cx="521613" cy="22860"/>
          </a:xfrm>
          <a:prstGeom prst="roundRect">
            <a:avLst>
              <a:gd name="adj" fmla="val 319483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7119580" y="4500443"/>
            <a:ext cx="391239" cy="391239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84827" y="4533067"/>
            <a:ext cx="260747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8184594" y="4560213"/>
            <a:ext cx="2173605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Priority Classification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184594" y="4936212"/>
            <a:ext cx="5837277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Score &gt;70 → HIGH | Score 40-70 → MEDIUM | Score &lt;40 → LOW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620828" y="5583793"/>
            <a:ext cx="521613" cy="22860"/>
          </a:xfrm>
          <a:prstGeom prst="roundRect">
            <a:avLst>
              <a:gd name="adj" fmla="val 319483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7119580" y="5399603"/>
            <a:ext cx="391239" cy="391239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84827" y="5432227"/>
            <a:ext cx="260747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050" dirty="0"/>
          </a:p>
        </p:txBody>
      </p:sp>
      <p:sp>
        <p:nvSpPr>
          <p:cNvPr id="18" name="Text 15"/>
          <p:cNvSpPr/>
          <p:nvPr/>
        </p:nvSpPr>
        <p:spPr>
          <a:xfrm>
            <a:off x="4272201" y="5459373"/>
            <a:ext cx="2173605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SLA Time Allocation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08528" y="5835372"/>
            <a:ext cx="5837277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HIGH: 2 hours | MEDIUM: 6 hours | LOW: 24 hours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487960" y="6483072"/>
            <a:ext cx="521613" cy="22860"/>
          </a:xfrm>
          <a:prstGeom prst="roundRect">
            <a:avLst>
              <a:gd name="adj" fmla="val 319483"/>
            </a:avLst>
          </a:prstGeom>
          <a:solidFill>
            <a:srgbClr val="C7C7D0"/>
          </a:solidFill>
          <a:ln/>
        </p:spPr>
      </p:sp>
      <p:sp>
        <p:nvSpPr>
          <p:cNvPr id="21" name="Shape 18"/>
          <p:cNvSpPr/>
          <p:nvPr/>
        </p:nvSpPr>
        <p:spPr>
          <a:xfrm>
            <a:off x="7119580" y="6298882"/>
            <a:ext cx="391239" cy="391239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84827" y="6331506"/>
            <a:ext cx="260747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050" dirty="0"/>
          </a:p>
        </p:txBody>
      </p:sp>
      <p:sp>
        <p:nvSpPr>
          <p:cNvPr id="23" name="Text 20"/>
          <p:cNvSpPr/>
          <p:nvPr/>
        </p:nvSpPr>
        <p:spPr>
          <a:xfrm>
            <a:off x="8184594" y="6358652"/>
            <a:ext cx="2173605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Queue Routing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184594" y="6734651"/>
            <a:ext cx="5837277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→ Senior Ops | MEDIUM → Standard | LOW → Auto-Reply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7691"/>
            <a:ext cx="87037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Response Generation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9009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generates contextualised first-response templates based on priority level and dispute category, ensuring consistent customer communication.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671054"/>
            <a:ext cx="4196358" cy="30307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3897868"/>
            <a:ext cx="28876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 Priority Template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4388287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"Dear Customer, Your dispute has been flagged as high priority and is under urgent review. Reference: {case_id}. We will update you within {sla_hours} hours."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962" y="3671054"/>
            <a:ext cx="4196358" cy="30307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43776" y="3897868"/>
            <a:ext cx="33556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Medium Priority Template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443776" y="4388287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"Dear Customer, We have received your dispute (Ref: {case_id}) and assigned it to our resolution team. You can expect an update within {sla_hours} hours."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3671054"/>
            <a:ext cx="4196358" cy="303073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866948" y="38978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Low Priority Template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866948" y="4388287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"Dear Customer, Your request (Ref: {case_id}) is being processed. Standard resolution time is {sla_hours} hours. Track status on our mobile app."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143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7956" y="3435429"/>
            <a:ext cx="5628918" cy="703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Technology Stack</a:t>
            </a:r>
            <a:endParaRPr lang="en-US" sz="4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7956" y="4476750"/>
            <a:ext cx="562808" cy="5628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32109" y="4610338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 Framework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632109" y="5097185"/>
            <a:ext cx="5542359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+ FastAPI for high-performance API endpoints and asynchronous processing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5813" y="4476750"/>
            <a:ext cx="562808" cy="5628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99966" y="4610338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ML Engine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299966" y="5097185"/>
            <a:ext cx="5542478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Scikit-learn for model training (Logistic Regression / Decision Tree)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7956" y="6267807"/>
            <a:ext cx="562808" cy="5628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32109" y="6401395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Storage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632109" y="6888242"/>
            <a:ext cx="5542359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SQLite for lightweight case management and historical data persistence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55813" y="6267807"/>
            <a:ext cx="562808" cy="5628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99966" y="6401395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Visualisation Layer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8299966" y="6888242"/>
            <a:ext cx="5542478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Streamlit for real-time operational dashboards and SLA monitoring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2025-12-10T18:28:27Z</dcterms:created>
  <dcterms:modified xsi:type="dcterms:W3CDTF">2025-12-10T18:28:27Z</dcterms:modified>
</cp:coreProperties>
</file>